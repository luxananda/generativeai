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Application Data Domain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6699"/>
                </a:solidFill>
              </a:defRPr>
            </a:pPr>
            <a:r>
              <a:t>Application Portfolio by Data Domain and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Generated: July 02,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840480"/>
            <a:ext cx="484632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1.  Executive Summary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Overview of application portfolio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2.  Account 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2 sub-domains, 7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3.  Customer 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3 sub-domains, 9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4.  Product 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2 sub-domains, 4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5.  Regulatory 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3 sub-domains, 7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6.  Risk 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5 sub-domains, 13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7.  Transaction Data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3 sub-domains, 11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t>8.  Appendix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  Complete application listing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Total Data Domains: 6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Total Sub-Data Domains: 18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Total Unique Applications: 51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00400"/>
          <a:ext cx="7315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Sub-Domains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Account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FF"/>
                </a:solidFill>
              </a:defRPr>
            </a:pPr>
            <a:r>
              <a:t>2 Sub-Domains  •  4 Categories  •  7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Account Management (5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Account Servicing (2 apps)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Account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Account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Deposit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CBS001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Core Banking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Retail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Deposit Accounts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Interest Calculation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SAV001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Savings Account Manager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Retail Banking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Loan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Opening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LOS001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Loan Origination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Loan Accounts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Credit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CML001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Commercial Lending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Commercial B...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Loan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Loan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MTG001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Mortgage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Account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Account Servicing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AMH001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Maintenance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Overdraft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Exception Processing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OVD001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Overdraft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Customer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FF"/>
                </a:solidFill>
              </a:defRPr>
            </a:pPr>
            <a:r>
              <a:t>3 Sub-Domains  •  5 Categories  •  9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Customer Demographics (5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Customer Preferences (1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Customer Verification (3 apps)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Customer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Customer Demographics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Contact Details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Collection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Contact Center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Contact Details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CRM001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CRM Enterprise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Sales &amp; Mark...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Personal Information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Collection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360 Portal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Retail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Personal Information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Update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WEB001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Internet Banking Platform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Digital Banking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Personal Information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MOB001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Mobile Banking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Digital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Customer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Customer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Communication Preferences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PFM001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Preference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Digital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Customer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Customer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Biometric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BIO001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Biometric 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KYC Documents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Document Processing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DVE001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Document Verification Engine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KYC Documents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KYC001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KYC Onboarding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Product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FF"/>
                </a:solidFill>
              </a:defRPr>
            </a:pPr>
            <a:r>
              <a:t>2 Sub-Domains  •  4 Categories  •  4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Product Analytics (1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Product Catalog (3 apps)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Product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Product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Performance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PPA001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Performance 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Product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Product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Interest Rates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Rate Setting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RTM001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Rate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Price Calculation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Pricing Engine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Mana...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Definitions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PCM001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Catalog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Mana...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Regulatory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FF"/>
                </a:solidFill>
              </a:defRPr>
            </a:pPr>
            <a:r>
              <a:t>3 Sub-Domains  •  6 Categories  •  7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Capital Requirements (3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Regulatory Reports (2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Trade Reporting (2 apps)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Regulatory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Capital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Basel Calculations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BAS001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Basel III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Capital Planning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Planning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CPT001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Capital Planning Tool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RWA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RWA001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RWA Calculator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Regulatory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Regulatory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Fed 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Report Filing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CAL001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Call Report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Fed Reports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Report Generation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FRY001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 Y-14 Reporting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Regulatory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Trade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Dodd-Frank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Report Filing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DFR001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Dodd-Frank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MiFID Reports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Report Filing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MIF001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MiFID II Reporter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Risk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FF"/>
                </a:solidFill>
              </a:defRPr>
            </a:pPr>
            <a:r>
              <a:t>5 Sub-Domains  •  12 Categories  •  13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AML Risk (3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Credit Risk (3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Fraud Risk (3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Market Risk (2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Operational Risk (2 apps)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AML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Report Filing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SAR001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SAR Filing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Sanctions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Screening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SAN001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Sanctions Screening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Screening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AML001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Monitoring AML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Credit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Portfolio 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Portfolio Risk Monitor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Scoring Models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Integration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FIC001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FICO Score Integration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Scoring Models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CDE001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Credit Decision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Fraud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ATO001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Takeover Prevention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Case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Investigation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FCM001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 Case Manager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FRD001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Fraud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Market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Market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MKT001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Market Data Feed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 Models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Calculation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 Calculator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Risk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Operational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Control Assessment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CTL001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Control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Incident Tracking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Case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Incident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Transaction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FF"/>
                </a:solidFill>
              </a:defRPr>
            </a:pPr>
            <a:r>
              <a:t>3 Sub-Domains  •  8 Categories  •  11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Card Transactions (3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Payment Processing (6 apps)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Transaction Records (2 apps)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Transaction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Card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Authorization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CAE001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 Authorization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Disputes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Case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DIS001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Dispute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Batch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MER001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Merchant Settlement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Transaction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Payment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 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Batch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 Origination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 Payments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Exception Handling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ACH002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 Returns Handler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RTP001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Payments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Payments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Processing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FED001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FedNow Gateway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Wire Transfers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SWT001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SWIFT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Wire Transfers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Processing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DWS001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Domestic Wire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Transaction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Sub-Domain: Transaction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100584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Sub-Sub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Historical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ARC001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Archive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Statements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Report Generation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STM001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Statement Generator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Appendix: Complete Application List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Application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All Applications (51 total) - Page 1/5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4114800"/>
                <a:gridCol w="118872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AMH001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Maintenance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CBS001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Core Banking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Retail Banking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CML001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Commercial Lending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Commercial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LOS001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Loan Origination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Lending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MTG001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Mortgage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OVD001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Overdraft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SAV001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Savings Account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Retail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BIO001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Biometric Authentication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Contact Center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CRM001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CRM Enterprise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Sales &amp; Marketing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360 Portal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Retail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DVE001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Document Verification Engine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Application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All Applications (51 total) - Page 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4114800"/>
                <a:gridCol w="118872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KYC001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KYC Onboarding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MOB001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Mobile Banking App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Digital Banking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PFM001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Preference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Digital Banking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Customer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WEB001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Internet Banking Platform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Digital Banking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PCM001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Catalog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PPA001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Performance Analytics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Pricing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Product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RTM001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Rate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BAS001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Basel III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CAL001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Call Report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CPT001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Capital Planning 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DFR001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Dodd-Frank Reporting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Application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All Applications (51 total) - Page 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4114800"/>
                <a:gridCol w="118872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FRY001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 Y-14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MIF001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MiFID II Reporter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Regulatory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RWA001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RWA Calculator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AML001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Monitoring AML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ATO001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Account Takeover Prevention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CDE001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Credit Decision Engine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CTL001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Control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FCM001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 Case Manager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FICO Score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FRD001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Fraud Detection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Incident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MKT001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Market Data Feed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Application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All Applications (51 total) - Page 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4114800"/>
                <a:gridCol w="118872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PRM001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Portfolio Risk Monitor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SAN001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Sanctions Screening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SAR001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SAR Filing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Risk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 Calculator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 Origination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ACH002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ACH Returns Handler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ARC001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Archive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CAE001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 Authorization Engine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DIS001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Dispute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DWS001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Domestic Wire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FED001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FedNow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MER001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Merchant Settlement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333333"/>
                </a:solidFill>
              </a:defRPr>
            </a:pPr>
            <a:r>
              <a:t>Application Data Domain Mapping | Confidential | Page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Application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99"/>
                </a:solidFill>
              </a:defRPr>
            </a:pPr>
            <a:r>
              <a:t>All Applications (51 total) - Page 5/5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4114800"/>
                <a:gridCol w="118872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Domain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 Code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RTP001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Real-time Payments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STM001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Statement Generator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Transaction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SWT001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SWIFT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Treasury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